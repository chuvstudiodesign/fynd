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31089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6200" b="1">
                <a:solidFill>
                  <a:srgbClr val="F7F6F2"/>
                </a:solidFill>
                <a:latin typeface="Aptos"/>
              </a:defRPr>
            </a:pPr>
            <a:r>
              <a:t>fynd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2402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>
                <a:solidFill>
                  <a:srgbClr val="8DA0B1"/>
                </a:solidFill>
                <a:latin typeface="DejaVu Sans Mono"/>
              </a:defRPr>
            </a:pPr>
            <a:r>
              <a:t>VALIDAÇÃO DE MERCADO · 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67665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800" b="0">
                <a:solidFill>
                  <a:srgbClr val="F7F6F2"/>
                </a:solidFill>
                <a:latin typeface="Aptos"/>
              </a:defRPr>
            </a:pPr>
            <a:r>
              <a:t>Você vende.</a:t>
            </a:r>
            <a:br/>
            <a:r>
              <a:t>A Fynd encontra.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61772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A8B7C4"/>
                </a:solidFill>
                <a:latin typeface="Aptos"/>
              </a:defRPr>
            </a:pPr>
            <a:r>
              <a:t>Uma nova forma de gerar oportunidades comerciais B2B.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27080" y="5669280"/>
            <a:ext cx="109728" cy="502920"/>
          </a:xfrm>
          <a:prstGeom prst="rect">
            <a:avLst/>
          </a:prstGeom>
          <a:solidFill>
            <a:srgbClr val="5DD1E0"/>
          </a:solidFill>
          <a:ln>
            <a:solidFill>
              <a:srgbClr val="5D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8DA0B1"/>
                </a:solidFill>
                <a:latin typeface="DejaVu Sans Mono"/>
              </a:defRPr>
            </a:pPr>
            <a:r>
              <a:t>FYND · VALIDAÇÃO DE MERCADO ·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0">
                <a:solidFill>
                  <a:srgbClr val="0B1F32"/>
                </a:solidFill>
                <a:latin typeface="Aptos"/>
              </a:defRPr>
            </a:pPr>
            <a:r>
              <a:t>Gerar novos clientes B2B ainda é complexo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516578"/>
                </a:solidFill>
                <a:latin typeface="Aptos"/>
              </a:defRPr>
            </a:pPr>
            <a:r>
              <a:t>Para prospectar bem, a empresa precisa coordenar várias peças antes de chegar a uma conversa comercial.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2A567F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7568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0B1F32"/>
                </a:solidFill>
                <a:latin typeface="Aptos"/>
              </a:defRPr>
            </a:pPr>
            <a:r>
              <a:t>Pessoas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2075688"/>
            <a:ext cx="7040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516578"/>
                </a:solidFill>
                <a:latin typeface="Aptos"/>
              </a:defRPr>
            </a:pPr>
            <a:r>
              <a:t>Contratar, treinar e gerenciar SDRs.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900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2A567F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1693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0B1F32"/>
                </a:solidFill>
                <a:latin typeface="Aptos"/>
              </a:defRPr>
            </a:pPr>
            <a:r>
              <a:t>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916936"/>
            <a:ext cx="7040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516578"/>
                </a:solidFill>
                <a:latin typeface="Aptos"/>
              </a:defRPr>
            </a:pPr>
            <a:r>
              <a:t>Encontrar empresas e contatos certos.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31336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2A567F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5818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0B1F32"/>
                </a:solidFill>
                <a:latin typeface="Aptos"/>
              </a:defRPr>
            </a:pPr>
            <a:r>
              <a:t>Ferramentas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758184"/>
            <a:ext cx="7040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516578"/>
                </a:solidFill>
                <a:latin typeface="Aptos"/>
              </a:defRPr>
            </a:pPr>
            <a:r>
              <a:t>CRM, automações, bases e canais.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7258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2A567F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59943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0B1F32"/>
                </a:solidFill>
                <a:latin typeface="Aptos"/>
              </a:defRPr>
            </a:pPr>
            <a:r>
              <a:t>Operação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599432"/>
            <a:ext cx="7040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516578"/>
                </a:solidFill>
                <a:latin typeface="Aptos"/>
              </a:defRPr>
            </a:pPr>
            <a:r>
              <a:t>Mensagens, cadências, follow-ups e qualificação.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516578"/>
                </a:solidFill>
                <a:latin typeface="DejaVu Sans Mono"/>
              </a:defRPr>
            </a:pPr>
            <a:r>
              <a:t>FYND · VALIDAÇÃO DE MERCADO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0">
                <a:solidFill>
                  <a:srgbClr val="F7F6F2"/>
                </a:solidFill>
                <a:latin typeface="Aptos"/>
              </a:defRPr>
            </a:pPr>
            <a:r>
              <a:t>E se o processo fosse muito mais simples?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8DA0B1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6596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200" b="0">
                <a:solidFill>
                  <a:srgbClr val="F7F6F2"/>
                </a:solidFill>
                <a:latin typeface="Aptos"/>
              </a:defRPr>
            </a:pPr>
            <a:r>
              <a:t>Você explica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51760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A8B7C4"/>
                </a:solidFill>
                <a:latin typeface="Aptos"/>
              </a:defRPr>
            </a:pPr>
            <a:r>
              <a:t>Conte o que sua empresa vende e quem costuma comprar.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993392"/>
            <a:ext cx="502920" cy="27432"/>
          </a:xfrm>
          <a:prstGeom prst="rect">
            <a:avLst/>
          </a:prstGeom>
          <a:solidFill>
            <a:srgbClr val="2A567F"/>
          </a:solidFill>
          <a:ln>
            <a:solidFill>
              <a:srgbClr val="2A5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07407" y="16002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DD1E0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7407" y="196596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200" b="0">
                <a:solidFill>
                  <a:srgbClr val="F7F6F2"/>
                </a:solidFill>
                <a:latin typeface="Aptos"/>
              </a:defRPr>
            </a:pPr>
            <a:r>
              <a:t>A Fynd trabalha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7" y="2651760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A8B7C4"/>
                </a:solidFill>
                <a:latin typeface="Aptos"/>
              </a:defRPr>
            </a:pPr>
            <a:r>
              <a:t>Entende o negócio, encontra empresas, aborda e conversa.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59" y="1993392"/>
            <a:ext cx="502920" cy="27432"/>
          </a:xfrm>
          <a:prstGeom prst="rect">
            <a:avLst/>
          </a:prstGeom>
          <a:solidFill>
            <a:srgbClr val="2A567F"/>
          </a:solidFill>
          <a:ln>
            <a:solidFill>
              <a:srgbClr val="2A5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60020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8DA0B1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965960"/>
            <a:ext cx="3154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200" b="0">
                <a:solidFill>
                  <a:srgbClr val="F7F6F2"/>
                </a:solidFill>
                <a:latin typeface="Aptos"/>
              </a:defRPr>
            </a:pPr>
            <a:r>
              <a:t>Você vende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651760"/>
            <a:ext cx="30175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A8B7C4"/>
                </a:solidFill>
                <a:latin typeface="Aptos"/>
              </a:defRPr>
            </a:pPr>
            <a:r>
              <a:t>Receba oportunidades que demonstraram interesse.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4315968"/>
            <a:ext cx="3383280" cy="731520"/>
          </a:xfrm>
          <a:prstGeom prst="roundRect">
            <a:avLst>
              <a:gd name="adj" fmla="val 8000"/>
            </a:avLst>
          </a:prstGeom>
          <a:solidFill>
            <a:srgbClr val="16304A"/>
          </a:solidFill>
          <a:ln>
            <a:solidFill>
              <a:srgbClr val="27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4553712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DD1E0"/>
                </a:solidFill>
                <a:latin typeface="DejaVu Sans Mono"/>
              </a:defRPr>
            </a:pPr>
            <a:r>
              <a:t>ZERO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4348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0">
                <a:solidFill>
                  <a:srgbClr val="F7F6F2"/>
                </a:solidFill>
                <a:latin typeface="Aptos"/>
              </a:defRPr>
            </a:pPr>
            <a:r>
              <a:t>Você conhece seu produto. A Fynd cuida da busca.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8DA0B1"/>
                </a:solidFill>
                <a:latin typeface="DejaVu Sans Mono"/>
              </a:defRPr>
            </a:pPr>
            <a:r>
              <a:t>FYND · VALIDAÇÃO DE MERCADO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0">
                <a:solidFill>
                  <a:srgbClr val="0B1F32"/>
                </a:solidFill>
                <a:latin typeface="Aptos"/>
              </a:defRPr>
            </a:pPr>
            <a:r>
              <a:t>Não queremos entregar uma lista.</a:t>
            </a:r>
            <a:br/>
            <a:r>
              <a:t>Queremos entregar uma oportunidade.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16578"/>
                </a:solidFill>
                <a:latin typeface="DejaVu Sans Mono"/>
              </a:defRPr>
            </a:pPr>
            <a:r>
              <a:t>HOJE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2176272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ECEAE5"/>
          </a:solidFill>
          <a:ln>
            <a:solidFill>
              <a:srgbClr val="D8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87168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4200" b="0">
                <a:solidFill>
                  <a:srgbClr val="0B1F32"/>
                </a:solidFill>
                <a:latin typeface="Aptos"/>
              </a:defRPr>
            </a:pPr>
            <a:r>
              <a:t>5.000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15468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516578"/>
                </a:solidFill>
                <a:latin typeface="Aptos"/>
              </a:defRPr>
            </a:pPr>
            <a:r>
              <a:t>empresas em uma planilha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931920"/>
            <a:ext cx="4069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516578"/>
                </a:solidFill>
                <a:latin typeface="Aptos"/>
              </a:defRPr>
            </a:pPr>
            <a:r>
              <a:t>Sua equipe ainda precisa descobrir quem abordar, localizar contatos, enviar mensagens, insistir e qualificar.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2A567F"/>
                </a:solidFill>
                <a:latin typeface="DejaVu Sans Mono"/>
              </a:defRPr>
            </a:pPr>
            <a:r>
              <a:t>COM A FYND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76272"/>
            <a:ext cx="50749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176272"/>
            <a:ext cx="54864" cy="3246120"/>
          </a:xfrm>
          <a:prstGeom prst="rect">
            <a:avLst/>
          </a:prstGeom>
          <a:solidFill>
            <a:srgbClr val="5DD1E0"/>
          </a:solidFill>
          <a:ln>
            <a:solidFill>
              <a:srgbClr val="5D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2514600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2A567F"/>
                </a:solidFill>
                <a:latin typeface="DejaVu Sans Mono"/>
              </a:defRPr>
            </a:pPr>
            <a:r>
              <a:t>NOVA OPORTUNIDADE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286207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500" b="0">
                <a:solidFill>
                  <a:srgbClr val="0B1F32"/>
                </a:solidFill>
                <a:latin typeface="Aptos"/>
              </a:defRPr>
            </a:pPr>
            <a:r>
              <a:t>Empresa XYZ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3566160"/>
            <a:ext cx="3657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>
                <a:solidFill>
                  <a:srgbClr val="516578"/>
                </a:solidFill>
                <a:latin typeface="Aptos"/>
              </a:defRPr>
            </a:pPr>
            <a:r>
              <a:t>Diretor Financeiro</a:t>
            </a:r>
            <a:br/>
            <a:r>
              <a:t>Necessidade identificada</a:t>
            </a:r>
            <a:br/>
            <a:r>
              <a:t>Interesse demonstrado</a:t>
            </a:r>
            <a:br/>
            <a:r>
              <a:t>Próximo passo aceito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516578"/>
                </a:solidFill>
                <a:latin typeface="DejaVu Sans Mono"/>
              </a:defRPr>
            </a:pPr>
            <a:r>
              <a:t>FYND · VALIDAÇÃO DE MERCADO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0">
                <a:solidFill>
                  <a:srgbClr val="0B1F32"/>
                </a:solidFill>
                <a:latin typeface="Aptos"/>
              </a:defRPr>
            </a:pPr>
            <a:r>
              <a:t>O mercado está evoluindo em camadas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1556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516578"/>
                </a:solidFill>
                <a:latin typeface="Aptos"/>
              </a:defRPr>
            </a:pPr>
            <a:r>
              <a:t>As categorias se sobrepõem. O que muda é onde cada plataforma concentra valor.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2A567F"/>
                </a:solidFill>
                <a:latin typeface="DejaVu Sans Mono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71907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B1F32"/>
                </a:solidFill>
                <a:latin typeface="Aptos"/>
              </a:defRPr>
            </a:pPr>
            <a:r>
              <a:t>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719072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0B1F32"/>
                </a:solidFill>
                <a:latin typeface="Aptos"/>
              </a:defRPr>
            </a:pPr>
            <a:r>
              <a:t>Quem existe e com quem falar?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755648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16578"/>
                </a:solidFill>
                <a:latin typeface="Aptos"/>
              </a:defRPr>
            </a:pPr>
            <a:r>
              <a:t>Speedio · Econodata · Apollo · Seamless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163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16578"/>
                </a:solidFill>
                <a:latin typeface="DejaVu Sans Mono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06624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B1F32"/>
                </a:solidFill>
                <a:latin typeface="Aptos"/>
              </a:defRPr>
            </a:pPr>
            <a:r>
              <a:t>INTELIGÊNCIA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706624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0B1F32"/>
                </a:solidFill>
                <a:latin typeface="Aptos"/>
              </a:defRPr>
            </a:pPr>
            <a:r>
              <a:t>Quem vale prospectar agora?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7432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16578"/>
                </a:solidFill>
                <a:latin typeface="Aptos"/>
              </a:defRPr>
            </a:pPr>
            <a:r>
              <a:t>Datlo · Cortex · Demandbase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80390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2A567F"/>
                </a:solidFill>
                <a:latin typeface="DejaVu Sans Mono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694176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B1F32"/>
                </a:solidFill>
                <a:latin typeface="Aptos"/>
              </a:defRPr>
            </a:pPr>
            <a:r>
              <a:t>EXECUÇÃO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694176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0B1F32"/>
                </a:solidFill>
                <a:latin typeface="Aptos"/>
              </a:defRPr>
            </a:pPr>
            <a:r>
              <a:t>Como executar a prospecção?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730752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516578"/>
                </a:solidFill>
                <a:latin typeface="Aptos"/>
              </a:defRPr>
            </a:pPr>
            <a:r>
              <a:t>Leads2b · Ramper · 11x · Artisan · AiSDR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626864"/>
            <a:ext cx="11109960" cy="749808"/>
          </a:xfrm>
          <a:prstGeom prst="roundRect">
            <a:avLst>
              <a:gd name="adj" fmla="val 8000"/>
            </a:avLst>
          </a:prstGeom>
          <a:solidFill>
            <a:srgbClr val="E8F7FA"/>
          </a:solidFill>
          <a:ln>
            <a:solidFill>
              <a:srgbClr val="CF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79145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5DD1E0"/>
                </a:solidFill>
                <a:latin typeface="DejaVu Sans Mono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681728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B1F32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68172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0B1F32"/>
                </a:solidFill>
                <a:latin typeface="Aptos"/>
              </a:defRPr>
            </a:pPr>
            <a:r>
              <a:t>Oportunidade comercial entregue.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718304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200" b="1">
                <a:solidFill>
                  <a:srgbClr val="0B1F32"/>
                </a:solidFill>
                <a:latin typeface="Aptos"/>
              </a:defRPr>
            </a:pPr>
            <a:r>
              <a:t>FYND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89320"/>
            <a:ext cx="3840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2A567F"/>
                </a:solidFill>
                <a:latin typeface="DejaVu Sans Mono"/>
              </a:defRPr>
            </a:pPr>
            <a:r>
              <a:t>DADOS + INTELIGÊNCIA + EXECUÇÃO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8795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>
                <a:solidFill>
                  <a:srgbClr val="0B1F32"/>
                </a:solidFill>
                <a:latin typeface="Aptos"/>
              </a:defRPr>
            </a:pPr>
            <a:r>
              <a:t>→  RESULTADO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516578"/>
                </a:solidFill>
                <a:latin typeface="DejaVu Sans Mono"/>
              </a:defRPr>
            </a:pPr>
            <a:r>
              <a:t>FYND · VALIDAÇÃO DE MERCADO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DD1E0"/>
                </a:solidFill>
                <a:latin typeface="DejaVu Sans Mono"/>
              </a:defRPr>
            </a:pPr>
            <a:r>
              <a:t>A DIFERENÇA QUE QUEREMOS CONSTRUIR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800" b="0">
                <a:solidFill>
                  <a:srgbClr val="A8B7C4"/>
                </a:solidFill>
                <a:latin typeface="Aptos"/>
              </a:defRPr>
            </a:pPr>
            <a:r>
              <a:t>As ferramentas tradicionais</a:t>
            </a:r>
            <a:br/>
            <a:r>
              <a:t>ajudam sua equipe a gerar</a:t>
            </a:r>
            <a:br/>
            <a:r>
              <a:t>oportunidades.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325880"/>
            <a:ext cx="47548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0">
                <a:solidFill>
                  <a:srgbClr val="F7F6F2"/>
                </a:solidFill>
                <a:latin typeface="Aptos"/>
              </a:defRPr>
            </a:pPr>
            <a:r>
              <a:t>A Fynd quer gerar</a:t>
            </a:r>
            <a:br/>
            <a:r>
              <a:t>a oportunidade</a:t>
            </a:r>
            <a:br/>
            <a:r>
              <a:t>para sua equipe.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3977639"/>
            <a:ext cx="3977639" cy="64008"/>
          </a:xfrm>
          <a:prstGeom prst="rect">
            <a:avLst/>
          </a:prstGeom>
          <a:solidFill>
            <a:srgbClr val="5DD1E0"/>
          </a:solidFill>
          <a:ln>
            <a:solidFill>
              <a:srgbClr val="5D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0" y="4343400"/>
            <a:ext cx="4572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A8B7C4"/>
                </a:solidFill>
                <a:latin typeface="Aptos"/>
              </a:defRPr>
            </a:pPr>
            <a:r>
              <a:t>A maioria vende uma ou mais partes do processo.</a:t>
            </a:r>
            <a:br/>
            <a:r>
              <a:t>A Fynd quer vender o resultado.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8DA0B1"/>
                </a:solidFill>
                <a:latin typeface="DejaVu Sans Mono"/>
              </a:defRPr>
            </a:pPr>
            <a:r>
              <a:t>FYND · VALIDAÇÃO DE MERCADO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0">
                <a:solidFill>
                  <a:srgbClr val="0B1F32"/>
                </a:solidFill>
                <a:latin typeface="Aptos"/>
              </a:defRPr>
            </a:pPr>
            <a:r>
              <a:t>A proposta não é ser mais uma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8872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516578"/>
                </a:solidFill>
                <a:latin typeface="Aptos"/>
              </a:defRPr>
            </a:pPr>
            <a:r>
              <a:t>A experiência precisa esconder a complexidade — não transferi-la para o cliente.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48839"/>
            <a:ext cx="109728" cy="109728"/>
          </a:xfrm>
          <a:prstGeom prst="rect">
            <a:avLst/>
          </a:prstGeom>
          <a:solidFill>
            <a:srgbClr val="2A567F"/>
          </a:solidFill>
          <a:ln>
            <a:solidFill>
              <a:srgbClr val="2A5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0B1F32"/>
                </a:solidFill>
                <a:latin typeface="Aptos"/>
              </a:defRPr>
            </a:pPr>
            <a:r>
              <a:t>Sem configurar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62072"/>
            <a:ext cx="109728" cy="109728"/>
          </a:xfrm>
          <a:prstGeom prst="rect">
            <a:avLst/>
          </a:prstGeom>
          <a:solidFill>
            <a:srgbClr val="2A567F"/>
          </a:solidFill>
          <a:ln>
            <a:solidFill>
              <a:srgbClr val="2A5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1635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0B1F32"/>
                </a:solidFill>
                <a:latin typeface="Aptos"/>
              </a:defRPr>
            </a:pPr>
            <a:r>
              <a:t>Sem construir listas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75303"/>
            <a:ext cx="109728" cy="109728"/>
          </a:xfrm>
          <a:prstGeom prst="rect">
            <a:avLst/>
          </a:prstGeom>
          <a:solidFill>
            <a:srgbClr val="2A567F"/>
          </a:solidFill>
          <a:ln>
            <a:solidFill>
              <a:srgbClr val="2A5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29584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0B1F32"/>
                </a:solidFill>
                <a:latin typeface="Aptos"/>
              </a:defRPr>
            </a:pPr>
            <a:r>
              <a:t>Sem montar automações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88536"/>
            <a:ext cx="109728" cy="109728"/>
          </a:xfrm>
          <a:prstGeom prst="rect">
            <a:avLst/>
          </a:prstGeom>
          <a:solidFill>
            <a:srgbClr val="5DD1E0"/>
          </a:solidFill>
          <a:ln>
            <a:solidFill>
              <a:srgbClr val="5D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42816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0B1F32"/>
                </a:solidFill>
                <a:latin typeface="Aptos"/>
              </a:defRPr>
            </a:pPr>
            <a:r>
              <a:t>Sem dominar prospecção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920240"/>
            <a:ext cx="4709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6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3317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2A567F"/>
                </a:solidFill>
                <a:latin typeface="DejaVu Sans Mono"/>
              </a:defRPr>
            </a:pPr>
            <a:r>
              <a:t>PRINCÍPIO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743200"/>
            <a:ext cx="3474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700" b="0">
                <a:solidFill>
                  <a:srgbClr val="0B1F32"/>
                </a:solidFill>
                <a:latin typeface="Aptos"/>
              </a:defRPr>
            </a:pPr>
            <a:r>
              <a:t>Você explica</a:t>
            </a:r>
            <a:br/>
            <a:r>
              <a:t>o que vende.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886200"/>
            <a:ext cx="3474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800" b="0">
                <a:solidFill>
                  <a:srgbClr val="516578"/>
                </a:solidFill>
                <a:latin typeface="Aptos"/>
              </a:defRPr>
            </a:pPr>
            <a:r>
              <a:t>A Fynd cuida do restante.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516578"/>
                </a:solidFill>
                <a:latin typeface="DejaVu Sans Mono"/>
              </a:defRPr>
            </a:pPr>
            <a:r>
              <a:t>FYND · VALIDAÇÃO DE MERCADO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5DD1E0"/>
                </a:solidFill>
                <a:latin typeface="DejaVu Sans Mono"/>
              </a:defRPr>
            </a:pPr>
            <a:r>
              <a:t>PRÓXIMO 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400" b="0">
                <a:solidFill>
                  <a:srgbClr val="F7F6F2"/>
                </a:solidFill>
                <a:latin typeface="Aptos"/>
              </a:defRPr>
            </a:pPr>
            <a:r>
              <a:t>Queremos validar isso</a:t>
            </a:r>
            <a:br/>
            <a:r>
              <a:t>com empresas reais.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6492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A8B7C4"/>
                </a:solidFill>
                <a:latin typeface="Aptos"/>
              </a:defRPr>
            </a:pPr>
            <a:r>
              <a:t>A Fynd ainda está em desenvolvimento. Estamos selecionando empresas interessadas em participar dos primeiros testes.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251960"/>
            <a:ext cx="3337560" cy="621792"/>
          </a:xfrm>
          <a:prstGeom prst="roundRect">
            <a:avLst>
              <a:gd name="adj" fmla="val 8000"/>
            </a:avLst>
          </a:prstGeom>
          <a:solidFill>
            <a:srgbClr val="F7F6F2"/>
          </a:solidFill>
          <a:ln>
            <a:solidFill>
              <a:srgbClr val="F7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443984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B1F32"/>
                </a:solidFill>
                <a:latin typeface="Aptos"/>
              </a:defRPr>
            </a:pPr>
            <a:r>
              <a:t>Tenho interesse em testar a Fynd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261872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8DA0B1"/>
                </a:solidFill>
                <a:latin typeface="DejaVu Sans Mono"/>
              </a:defRPr>
            </a:pPr>
            <a:r>
              <a:t>QUESTIONÁRIO DE VALIDAÇÃO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783080"/>
            <a:ext cx="29260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F7F6F2"/>
                </a:solidFill>
                <a:latin typeface="Aptos"/>
              </a:defRPr>
            </a:pPr>
            <a:r>
              <a:t>Comportamento atual</a:t>
            </a:r>
            <a:br/>
            <a:r>
              <a:t>Dor principal</a:t>
            </a:r>
            <a:br/>
            <a:r>
              <a:t>Investimento</a:t>
            </a:r>
            <a:br/>
            <a:r>
              <a:t>Modelo de cobrança</a:t>
            </a:r>
            <a:br/>
            <a:r>
              <a:t>Interesse em piloto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81360" y="5166360"/>
            <a:ext cx="109728" cy="594360"/>
          </a:xfrm>
          <a:prstGeom prst="rect">
            <a:avLst/>
          </a:prstGeom>
          <a:solidFill>
            <a:srgbClr val="5DD1E0"/>
          </a:solidFill>
          <a:ln>
            <a:solidFill>
              <a:srgbClr val="5DD1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3840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700" b="0">
                <a:solidFill>
                  <a:srgbClr val="8DA0B1"/>
                </a:solidFill>
                <a:latin typeface="DejaVu Sans Mono"/>
              </a:defRPr>
            </a:pPr>
            <a:r>
              <a:t>FYND · VALIDAÇÃO DE MERCADO ·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